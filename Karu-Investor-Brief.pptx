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spc="200" kern="0" dirty="0">
                <a:solidFill>
                  <a:srgbClr val="F3E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KARU</a:t>
            </a:r>
            <a:endParaRPr lang="en-US" sz="7600" dirty="0"/>
          </a:p>
        </p:txBody>
      </p:sp>
      <p:sp>
        <p:nvSpPr>
          <p:cNvPr id="4" name="Shape 2"/>
          <p:cNvSpPr/>
          <p:nvPr/>
        </p:nvSpPr>
        <p:spPr>
          <a:xfrm>
            <a:off x="914400" y="3127248"/>
            <a:ext cx="2194560" cy="4114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 a car in Cameroon. Verified, every time.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verified, two-sided car rental marketplace for Douala &amp; Yaoundé.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  ·  competitive landscape &amp; business model  ·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3E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Renting a car here is a gamble.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getting a car in Cameroon means a phone number from a group chat — and a lot of hope. No checks on the car, the owner, or the price. Scams are a recognised, named problem, rooted in the absence of any fast, reliable way to verify who you're dealing with before you pay.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691640"/>
            <a:ext cx="4160520" cy="1371600"/>
          </a:xfrm>
          <a:prstGeom prst="roundRect">
            <a:avLst>
              <a:gd name="adj" fmla="val 6000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60920" y="1691640"/>
            <a:ext cx="64008" cy="13716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8562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35240" y="225856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car, the owner, or the renter — both sides fly blind.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60920" y="3246120"/>
            <a:ext cx="4160520" cy="1371600"/>
          </a:xfrm>
          <a:prstGeom prst="roundRect">
            <a:avLst>
              <a:gd name="adj" fmla="val 6000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60920" y="3246120"/>
            <a:ext cx="64008" cy="13716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34107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pricing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35240" y="381304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Negotiated, cash, no record — and no one to call when it goes wrong.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60920" y="4800600"/>
            <a:ext cx="4160520" cy="1371600"/>
          </a:xfrm>
          <a:prstGeom prst="roundRect">
            <a:avLst>
              <a:gd name="adj" fmla="val 6000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4800600"/>
            <a:ext cx="64008" cy="13716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49651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supply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35240" y="5367528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agencies and informal listings, none aggregated or trusted.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394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3E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isn't cars. It's trust.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  ·  verified car rental marketplace, Cameroon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3E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substitutes — none of them trusted.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3852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26974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 franchises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31272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· Europcar · Hertz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3703320"/>
            <a:ext cx="23134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&amp; expat-focused. $62–238/day, FX-priced, no MoMo. Not built for locals.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02152" y="178308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03320" y="193852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03320" y="26974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agencies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703320" y="31272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Bush · Alicya · Habari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3703320"/>
            <a:ext cx="23134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but fragmented. Phone/WhatsApp booking, opaque negotiated prices.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64224" y="178308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65392" y="193852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65392" y="26974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market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65392" y="31272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· WhatsApp · classifieds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65392" y="3703320"/>
            <a:ext cx="23134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by volume, lowest trust. No checks, no recourse, scam-prone.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26296" y="1783080"/>
            <a:ext cx="2697480" cy="3566160"/>
          </a:xfrm>
          <a:prstGeom prst="roundRect">
            <a:avLst>
              <a:gd name="adj" fmla="val 3051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27464" y="193852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427464" y="26974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Ride-hailing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427464" y="31272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Yango · OnGo · Gozem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27464" y="3703320"/>
            <a:ext cx="23134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&amp; dangerous: real apps and payment, but built for rides, not rental.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verified, two-sided marketplace model is proven in Lagos, Nairobi and Johannesburg — and has never reached Cameroon.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  ·  verified car rental marketplace, Cameroon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3E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top-right quadrant is empty.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3657600" y="2057400"/>
            <a:ext cx="3931920" cy="3657600"/>
          </a:xfrm>
          <a:prstGeom prst="rect">
            <a:avLst/>
          </a:prstGeom>
          <a:solidFill>
            <a:srgbClr val="26170B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3886200"/>
            <a:ext cx="3931920" cy="0"/>
          </a:xfrm>
          <a:prstGeom prst="line">
            <a:avLst/>
          </a:prstGeom>
          <a:noFill/>
          <a:ln w="12700">
            <a:solidFill>
              <a:srgbClr val="9C82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23560" y="2057400"/>
            <a:ext cx="0" cy="3657600"/>
          </a:xfrm>
          <a:prstGeom prst="line">
            <a:avLst/>
          </a:prstGeom>
          <a:noFill/>
          <a:ln w="12700">
            <a:solidFill>
              <a:srgbClr val="9C82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7647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TRUST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0" y="575157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TRUST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65960" y="36118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spc="100" kern="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/</a:t>
            </a:r>
            <a:endParaRPr lang="en-US" sz="95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50" spc="100" kern="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699248" y="361188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100" kern="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spc="100" kern="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1182" y="2551176"/>
            <a:ext cx="182880" cy="182880"/>
          </a:xfrm>
          <a:prstGeom prst="ellipse">
            <a:avLst/>
          </a:prstGeom>
          <a:solidFill>
            <a:srgbClr val="C9AE8C"/>
          </a:solidFill>
          <a:ln w="12700">
            <a:solidFill>
              <a:srgbClr val="1C12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6902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45736" y="4233672"/>
            <a:ext cx="182880" cy="182880"/>
          </a:xfrm>
          <a:prstGeom prst="ellipse">
            <a:avLst/>
          </a:prstGeom>
          <a:solidFill>
            <a:srgbClr val="C9AE8C"/>
          </a:solidFill>
          <a:ln w="12700">
            <a:solidFill>
              <a:srgbClr val="1C12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4416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Ride-hailing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18504" y="4087368"/>
            <a:ext cx="182880" cy="182880"/>
          </a:xfrm>
          <a:prstGeom prst="ellipse">
            <a:avLst/>
          </a:prstGeom>
          <a:solidFill>
            <a:srgbClr val="C9AE8C"/>
          </a:solidFill>
          <a:ln w="12700">
            <a:solidFill>
              <a:srgbClr val="1C12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7024" y="3849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agencies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75781" y="5111496"/>
            <a:ext cx="182880" cy="182880"/>
          </a:xfrm>
          <a:prstGeom prst="ellipse">
            <a:avLst/>
          </a:prstGeom>
          <a:solidFill>
            <a:srgbClr val="C9AE8C"/>
          </a:solidFill>
          <a:ln w="12700">
            <a:solidFill>
              <a:srgbClr val="1C12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5781" y="5294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11773" y="2706624"/>
            <a:ext cx="310896" cy="310896"/>
          </a:xfrm>
          <a:prstGeom prst="ellipse">
            <a:avLst/>
          </a:prstGeom>
          <a:solidFill>
            <a:srgbClr val="E8A020"/>
          </a:solidFill>
          <a:ln w="19050">
            <a:solidFill>
              <a:srgbClr val="F3E9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44261" y="23591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69680" y="2057400"/>
            <a:ext cx="2679192" cy="3657600"/>
          </a:xfrm>
          <a:prstGeom prst="roundRect">
            <a:avLst>
              <a:gd name="adj" fmla="val 3072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9828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Karu's wedge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98280" y="2697480"/>
            <a:ext cx="2286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trust AND local-first is unoccupied. Karu brings franchise-grade verification to the everyday, locally-priced rental the franchises ignore and the informal market can't make safe.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  ·  verified car rental marketplace, Cameroon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3E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Karu makes every rental verified.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two-sided marketplace where every car, owner and renter is checked before a booking — with transparent FCFA pricing, MoMo payment, and a record behind every trip. We aggregate fragmented supply and put a trust layer on top.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584448" cy="2331720"/>
          </a:xfrm>
          <a:prstGeom prst="roundRect">
            <a:avLst>
              <a:gd name="adj" fmla="val 3529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3090672"/>
            <a:ext cx="566928" cy="566928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310896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96112" y="37673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vehicles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42062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 checked before it is listed — honest photos, real condition.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834640"/>
            <a:ext cx="3584448" cy="2331720"/>
          </a:xfrm>
          <a:prstGeom prst="roundRect">
            <a:avLst>
              <a:gd name="adj" fmla="val 3529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3090672"/>
            <a:ext cx="566928" cy="566928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310896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45152" y="37673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people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5152" y="42062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and renters confirmed, both ways. You know who you're dealing with.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834640"/>
            <a:ext cx="3584448" cy="2331720"/>
          </a:xfrm>
          <a:prstGeom prst="roundRect">
            <a:avLst>
              <a:gd name="adj" fmla="val 3529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94192" y="3090672"/>
            <a:ext cx="566928" cy="566928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3108960"/>
            <a:ext cx="566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94192" y="37673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upfront pricing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94192" y="42062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you see is the price you pay. In FCFA, paid via MoMo.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stress, no hidden arrangements, no surprises.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  ·  verified car rental marketplace, Cameroon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3E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edges no incumbent has.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647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as a product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754880" y="17373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"verified" — the one word no rival in Cameroon claims. In a scam-plagued market, that's the strongest possible wedge.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2E1C0D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606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liquidity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754880" y="257860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convert fragmented agencies and idle private cars into supply, and become the demand layer above them.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2E1C0D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4472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rails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754880" y="3419856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MoMo / FCFA pricing and full EN/FR parity — structural advantages global players won't prioritise.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06824"/>
            <a:ext cx="457200" cy="457200"/>
          </a:xfrm>
          <a:prstGeom prst="ellipse">
            <a:avLst/>
          </a:prstGeom>
          <a:solidFill>
            <a:srgbClr val="2E1C0D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06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28853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on a proven model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754880" y="4261104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"Airbnb for cars" model works across Nigeria, Kenya and South Africa. We're first to bring it to Cameroon.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2E1C0D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12978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754880" y="510235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monetise existing cars rather than buying a fleet — capital-efficient supply growth.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  ·  verified car rental marketplace, Cameroon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3E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monetise trust. Asset-light.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035040" cy="868680"/>
          </a:xfrm>
          <a:prstGeom prst="roundRect">
            <a:avLst>
              <a:gd name="adj" fmla="val 9474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64008" cy="86868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019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commission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03704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 blended take-rate on every booking — the core engine.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52344"/>
            <a:ext cx="6035040" cy="868680"/>
          </a:xfrm>
          <a:prstGeom prst="roundRect">
            <a:avLst>
              <a:gd name="adj" fmla="val 9474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752344"/>
            <a:ext cx="64008" cy="86868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712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 service fee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172968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5–8% on the renter side, framed as verification &amp; protection.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721608"/>
            <a:ext cx="6035040" cy="868680"/>
          </a:xfrm>
          <a:prstGeom prst="roundRect">
            <a:avLst>
              <a:gd name="adj" fmla="val 9474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721608"/>
            <a:ext cx="64008" cy="86868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protection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14223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Per-trip protection / deposit handling — also funds the moat.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690872"/>
            <a:ext cx="6035040" cy="868680"/>
          </a:xfrm>
          <a:prstGeom prst="roundRect">
            <a:avLst>
              <a:gd name="adj" fmla="val 9474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690872"/>
            <a:ext cx="64008" cy="86868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80974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subscriptions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5111496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plans for pro vendors &amp; agencies: placement, analytics, faster payouts.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03720" y="1783080"/>
            <a:ext cx="4617720" cy="3931920"/>
          </a:xfrm>
          <a:prstGeom prst="roundRect">
            <a:avLst>
              <a:gd name="adj" fmla="val 2093"/>
            </a:avLst>
          </a:prstGeom>
          <a:solidFill>
            <a:srgbClr val="26170B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0" y="1965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unit economics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0" y="23042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~3-day domestic booking (to validate)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booking value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784080" y="2697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35,000 FCFA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132320" y="3154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commission (15%)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784080" y="3154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5,250 FCFA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32320" y="3611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 fee (6%)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784080" y="36118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2,100 FCFA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132320" y="4087368"/>
            <a:ext cx="4206240" cy="0"/>
          </a:xfrm>
          <a:prstGeom prst="line">
            <a:avLst/>
          </a:prstGeom>
          <a:noFill/>
          <a:ln w="12700">
            <a:solidFill>
              <a:srgbClr val="5C3A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4178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take / booking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601200" y="41788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~7,350 FCFA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132320" y="47091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21% of booking value, no fleet cost. Figures illustrative — the claim is the model shape and take-rate logic.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  ·  verified car rental marketplace, Cameroon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3E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threat is distribution.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3931920"/>
          </a:xfrm>
          <a:prstGeom prst="roundRect">
            <a:avLst>
              <a:gd name="adj" fmla="val 2093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threats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app adds rentals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734056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 already does event rentals; Gozem is expanding in Central Africa. Either could bolt a marketplace onto warm distribution.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021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liquidity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81304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 needed at once; informal options are "good enough" for many today.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45811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must be real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48920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high-profile failure damages the core promise. Verification has to be substance.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26170B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defence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92240" y="2514600"/>
            <a:ext cx="146304" cy="146304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423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first on vendor liquidity and lock supply before app-rich rivals turn rental 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3291840"/>
            <a:ext cx="146304" cy="146304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2004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verification &amp; payments an operational moat — checks, deposits, insurance, recourse.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4069080"/>
            <a:ext cx="146304" cy="146304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977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"verified rental" category in customers' minds, not just the feature.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4846320"/>
            <a:ext cx="146304" cy="146304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7548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of self-drive verification vs. ride-first DNA of mobility apps.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  ·  verified car rental marketplace, Cameroon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3E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 model. Empty market. Right rails.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84448" cy="2651760"/>
          </a:xfrm>
          <a:prstGeom prst="roundRect">
            <a:avLst>
              <a:gd name="adj" fmla="val 3103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96112" y="2606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elsewhere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306324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verified rental works across Nigeria, Kenya &amp; South Africa — the model is de-risked.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584448" cy="2651760"/>
          </a:xfrm>
          <a:prstGeom prst="roundRect">
            <a:avLst>
              <a:gd name="adj" fmla="val 3103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645152" y="2606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Unclaimed in Cameroon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45152" y="306324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verified two-sided rental marketplace exists here. First-mover on trust.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584448" cy="2651760"/>
          </a:xfrm>
          <a:prstGeom prst="roundRect">
            <a:avLst>
              <a:gd name="adj" fmla="val 3103"/>
            </a:avLst>
          </a:prstGeom>
          <a:solidFill>
            <a:srgbClr val="2E1C0D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94192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94192" y="2606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are ready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94192" y="306324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MoMo adoption and in-app booking habits (via ride-hailing) have normalised cashless, verified transactions.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0881360" cy="1097280"/>
          </a:xfrm>
          <a:prstGeom prst="roundRect">
            <a:avLst>
              <a:gd name="adj" fmla="val 7500"/>
            </a:avLst>
          </a:prstGeom>
          <a:solidFill>
            <a:srgbClr val="26170B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709160"/>
            <a:ext cx="73152" cy="109728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937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3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pre-launch waitlist in Douala &amp; Yaoundé, building vendor supply ahead of monetised launch.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  ·  verified car rental marketplace, Cameroon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E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 rental in Cameroon, done properly.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35661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9A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Verified. Local. Two-sided. First to market — monetising the scarcest commodity in the market: trust.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4526280"/>
            <a:ext cx="2011680" cy="4114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getkaru.io  ·  Douala &amp; Yaoundé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Karu — Investor Brief</dc:title>
  <dc:subject>PptxGenJS Presentation</dc:subject>
  <dc:creator>Karu</dc:creator>
  <cp:lastModifiedBy>Karu</cp:lastModifiedBy>
  <cp:revision>1</cp:revision>
  <dcterms:created xsi:type="dcterms:W3CDTF">2026-06-07T14:05:41Z</dcterms:created>
  <dcterms:modified xsi:type="dcterms:W3CDTF">2026-06-07T14:05:41Z</dcterms:modified>
</cp:coreProperties>
</file>